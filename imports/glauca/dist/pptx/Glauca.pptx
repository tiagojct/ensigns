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384048" cy="384048"/>
          </a:xfrm>
          <a:prstGeom prst="rect">
            <a:avLst/>
          </a:prstGeom>
          <a:solidFill>
            <a:srgbClr val="0B62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 i="0">
                <a:solidFill>
                  <a:srgbClr val="16222A"/>
                </a:solidFill>
                <a:latin typeface="IBM Plex Serif"/>
              </a:rPr>
              <a:t>Glauca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1">
                <a:solidFill>
                  <a:srgbClr val="35576B"/>
                </a:solidFill>
                <a:latin typeface="IBM Plex Sans"/>
              </a:rPr>
              <a:t>Clear glass, cold light.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172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5646D"/>
                </a:solidFill>
                <a:latin typeface="IBM Plex Sans"/>
              </a:rPr>
              <a:t>Design system</a:t>
            </a:r>
            <a:r>
              <a:rPr sz="1200" b="0" i="0">
                <a:solidFill>
                  <a:srgbClr val="CDD7DC"/>
                </a:solidFill>
                <a:latin typeface="IBM Plex Sans"/>
              </a:rPr>
              <a:t>   ·   </a:t>
            </a:r>
            <a:r>
              <a:rPr sz="1200" b="0" i="0">
                <a:solidFill>
                  <a:srgbClr val="55646D"/>
                </a:solidFill>
                <a:latin typeface="IBM Plex Sans"/>
              </a:rPr>
              <a:t>v0.1.0</a:t>
            </a:r>
            <a:r>
              <a:rPr sz="1200" b="0" i="0">
                <a:solidFill>
                  <a:srgbClr val="CDD7DC"/>
                </a:solidFill>
                <a:latin typeface="IBM Plex Sans"/>
              </a:rPr>
              <a:t>   ·   </a:t>
            </a:r>
            <a:r>
              <a:rPr sz="1200" b="0" i="0">
                <a:solidFill>
                  <a:srgbClr val="55646D"/>
                </a:solidFill>
                <a:latin typeface="IBM Plex Sans"/>
              </a:rPr>
              <a:t>Pruina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62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B62CF"/>
                </a:solidFill>
                <a:latin typeface="IBM Plex Serif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6222A"/>
                </a:solidFill>
                <a:latin typeface="IBM Plex Serif"/>
              </a:rPr>
              <a:t>Section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420624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5646D"/>
                </a:solidFill>
                <a:latin typeface="IBM Plex Sans"/>
              </a:rPr>
              <a:t>A short standfirst in the sans voice.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6222A"/>
                </a:solidFill>
                <a:latin typeface="IBM Plex Serif"/>
              </a:rPr>
              <a:t>Content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5646D"/>
                </a:solidFill>
                <a:latin typeface="IBM Plex Sans"/>
              </a:rPr>
              <a:t>Headings answer in IBM Plex Serif; the body reads in IBM Plex Sans.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2412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0B62CF"/>
                </a:solidFill>
                <a:latin typeface="IBM Plex Sans"/>
              </a:rPr>
              <a:t>■  </a:t>
            </a:r>
            <a:r>
              <a:rPr sz="1700" b="0" i="0">
                <a:solidFill>
                  <a:srgbClr val="16222A"/>
                </a:solidFill>
                <a:latin typeface="IBM Plex Sans"/>
              </a:rPr>
              <a:t>One sky-blue mark on a frost-bloom field.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0B62CF"/>
                </a:solidFill>
                <a:latin typeface="IBM Plex Sans"/>
              </a:rPr>
              <a:t>■  </a:t>
            </a:r>
            <a:r>
              <a:rPr sz="1700" b="0" i="0">
                <a:solidFill>
                  <a:srgbClr val="16222A"/>
                </a:solidFill>
                <a:latin typeface="IBM Plex Sans"/>
              </a:rPr>
              <a:t>The palette is generated from a single source of truth.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0B62CF"/>
                </a:solidFill>
                <a:latin typeface="IBM Plex Sans"/>
              </a:rPr>
              <a:t>■  </a:t>
            </a:r>
            <a:r>
              <a:rPr sz="1700" b="0" i="0">
                <a:solidFill>
                  <a:srgbClr val="16222A"/>
                </a:solidFill>
                <a:latin typeface="IBM Plex Sans"/>
              </a:rPr>
              <a:t>Colour-blind-safe data colours carry every chart.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0B62CF"/>
                </a:solidFill>
                <a:latin typeface="IBM Plex Sans"/>
              </a:rPr>
              <a:t>■  </a:t>
            </a:r>
            <a:r>
              <a:rPr sz="1700" b="0" i="0">
                <a:solidFill>
                  <a:srgbClr val="16222A"/>
                </a:solidFill>
                <a:latin typeface="IBM Plex Sans"/>
              </a:rPr>
              <a:t>Light-first: Pruina by day, Profundum by lamp.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6222A"/>
                </a:solidFill>
                <a:latin typeface="IBM Plex Serif"/>
              </a:rPr>
              <a:t>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737360" cy="1737360"/>
          </a:xfrm>
          <a:prstGeom prst="rect">
            <a:avLst/>
          </a:prstGeom>
          <a:solidFill>
            <a:srgbClr val="0B62CF"/>
          </a:solidFill>
          <a:ln w="15875">
            <a:solidFill>
              <a:srgbClr val="55646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6222A"/>
                </a:solidFill>
                <a:latin typeface="IBM Plex Sans"/>
              </a:rPr>
              <a:t>dies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646D"/>
                </a:solidFill>
                <a:latin typeface="IBM Plex Sans"/>
              </a:rPr>
              <a:t>#0B62CF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1828800"/>
            <a:ext cx="1737360" cy="1737360"/>
          </a:xfrm>
          <a:prstGeom prst="rect">
            <a:avLst/>
          </a:prstGeom>
          <a:solidFill>
            <a:srgbClr val="62BA46"/>
          </a:solidFill>
          <a:ln w="15875">
            <a:solidFill>
              <a:srgbClr val="55646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6222A"/>
                </a:solidFill>
                <a:latin typeface="IBM Plex Sans"/>
              </a:rPr>
              <a:t>folium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646D"/>
                </a:solidFill>
                <a:latin typeface="IBM Plex Sans"/>
              </a:rPr>
              <a:t>#62BA46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828800"/>
            <a:ext cx="1737360" cy="1737360"/>
          </a:xfrm>
          <a:prstGeom prst="rect">
            <a:avLst/>
          </a:prstGeom>
          <a:solidFill>
            <a:srgbClr val="8C8C8C"/>
          </a:solidFill>
          <a:ln w="15875">
            <a:solidFill>
              <a:srgbClr val="55646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6222A"/>
                </a:solidFill>
                <a:latin typeface="IBM Plex Sans"/>
              </a:rPr>
              <a:t>cinis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646D"/>
                </a:solidFill>
                <a:latin typeface="IBM Plex Sans"/>
              </a:rPr>
              <a:t>#8C8C8C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1737360" cy="1737360"/>
          </a:xfrm>
          <a:prstGeom prst="rect">
            <a:avLst/>
          </a:prstGeom>
          <a:solidFill>
            <a:srgbClr val="16222A"/>
          </a:solidFill>
          <a:ln w="15875">
            <a:solidFill>
              <a:srgbClr val="55646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6222A"/>
                </a:solidFill>
                <a:latin typeface="IBM Plex Sans"/>
              </a:rPr>
              <a:t>ink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646D"/>
                </a:solidFill>
                <a:latin typeface="IBM Plex Sans"/>
              </a:rPr>
              <a:t>#16222A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828800"/>
            <a:ext cx="1737360" cy="1737360"/>
          </a:xfrm>
          <a:prstGeom prst="rect">
            <a:avLst/>
          </a:prstGeom>
          <a:solidFill>
            <a:srgbClr val="F0F4F6"/>
          </a:solidFill>
          <a:ln w="15875">
            <a:solidFill>
              <a:srgbClr val="55646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6222A"/>
                </a:solidFill>
                <a:latin typeface="IBM Plex Sans"/>
              </a:rPr>
              <a:t>field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646D"/>
                </a:solidFill>
                <a:latin typeface="IBM Plex Sans"/>
              </a:rPr>
              <a:t>#F0F4F6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66960" y="1828800"/>
            <a:ext cx="1737360" cy="1737360"/>
          </a:xfrm>
          <a:prstGeom prst="rect">
            <a:avLst/>
          </a:prstGeom>
          <a:solidFill>
            <a:srgbClr val="35576B"/>
          </a:solidFill>
          <a:ln w="15875">
            <a:solidFill>
              <a:srgbClr val="55646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6222A"/>
                </a:solidFill>
                <a:latin typeface="IBM Plex Sans"/>
              </a:rPr>
              <a:t>tint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646D"/>
                </a:solidFill>
                <a:latin typeface="IBM Plex Sans"/>
              </a:rPr>
              <a:t>#35576B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51206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280160"/>
            <a:ext cx="4480560" cy="4206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400" b="1" i="0">
                <a:solidFill>
                  <a:srgbClr val="0B62CF"/>
                </a:solidFill>
                <a:latin typeface="IBM Plex Serif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6222A"/>
                </a:solidFill>
                <a:latin typeface="IBM Plex Sans"/>
              </a:rPr>
              <a:t>rare load-bearing mark</a:t>
            </a:r>
          </a:p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5646D"/>
                </a:solidFill>
                <a:latin typeface="IBM Plex Sans"/>
              </a:rPr>
              <a:t>Everything else is the cold field.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4937760" cy="4206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6222A"/>
                </a:solidFill>
                <a:latin typeface="IBM Plex Serif"/>
              </a:rPr>
              <a:t>The exception</a:t>
            </a:r>
          </a:p>
          <a:p>
            <a:pPr algn="l">
              <a:spcAft>
                <a:spcPts val="1000"/>
              </a:spcAft>
            </a:pPr>
            <a:r>
              <a:rPr sz="800" b="0" i="0">
                <a:solidFill>
                  <a:srgbClr val="55646D"/>
                </a:solidFill>
                <a:latin typeface="IBM Plex Sans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55646D"/>
                </a:solidFill>
                <a:latin typeface="IBM Plex Sans"/>
              </a:rPr>
              <a:t>Fire stays rare on every surface: slides, posters, and web. Only the code tier spends it freely, where colour-blind safety puts the blue on keywords.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22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solidFill>
            <a:srgbClr val="0B62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0F4F6"/>
                </a:solidFill>
                <a:latin typeface="IBM Plex Serif"/>
              </a:rPr>
              <a:t>Clear glass, cold light.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CB2FF"/>
                </a:solidFill>
                <a:latin typeface="IBM Plex Sans"/>
              </a:rPr>
              <a:t>github.com/tiagojct/glauca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lauca">
      <a:dk1>
        <a:srgbClr val="16222A"/>
      </a:dk1>
      <a:lt1>
        <a:srgbClr val="F0F4F6"/>
      </a:lt1>
      <a:dk2>
        <a:srgbClr val="35576B"/>
      </a:dk2>
      <a:lt2>
        <a:srgbClr val="FFFFFF"/>
      </a:lt2>
      <a:accent1>
        <a:srgbClr val="0B62CF"/>
      </a:accent1>
      <a:accent2>
        <a:srgbClr val="E69F00"/>
      </a:accent2>
      <a:accent3>
        <a:srgbClr val="009E73"/>
      </a:accent3>
      <a:accent4>
        <a:srgbClr val="CC79A7"/>
      </a:accent4>
      <a:accent5>
        <a:srgbClr val="D55E00"/>
      </a:accent5>
      <a:accent6>
        <a:srgbClr val="56B4E9"/>
      </a:accent6>
      <a:hlink>
        <a:srgbClr val="0B62CF"/>
      </a:hlink>
      <a:folHlink>
        <a:srgbClr val="3E6D84"/>
      </a:folHlink>
    </a:clrScheme>
    <a:fontScheme name="Glauca">
      <a:majorFont>
        <a:latin typeface="IBM Plex Serif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